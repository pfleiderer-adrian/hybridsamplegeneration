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353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1B2B3F"/>
                </a:solidFill>
              </a:defRPr>
            </a:pPr>
            <a:r>
              <a:t>Comparison V2 – Test-Ergebnisse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353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B2B3F"/>
                </a:solidFill>
              </a:defRPr>
            </a:pPr>
            <a:r>
              <a:t>Baseline → Hybrid in % | Δ in Prozentpunkten | Einzelwerte: B = Baseline, H = Hybrid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13533120" cy="5806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834640"/>
                <a:gridCol w="2834640"/>
                <a:gridCol w="2834640"/>
                <a:gridCol w="2834640"/>
              </a:tblGrid>
              <a:tr h="829491">
                <a:tc>
                  <a:txBody>
                    <a:bodyPr/>
                    <a:lstStyle/>
                    <a:p>
                      <a:pPr algn="l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Kategorie</a:t>
                      </a:r>
                    </a:p>
                  </a:txBody>
                  <a:tcPr anchor="ctr" marL="146304" marR="109728">
                    <a:solidFill>
                      <a:srgbClr val="1B2B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Bild-AUROC</a:t>
                      </a:r>
                    </a:p>
                  </a:txBody>
                  <a:tcPr anchor="ctr" marL="146304" marR="109728">
                    <a:solidFill>
                      <a:srgbClr val="1B2B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Bild-AP</a:t>
                      </a:r>
                    </a:p>
                  </a:txBody>
                  <a:tcPr anchor="ctr" marL="146304" marR="109728">
                    <a:solidFill>
                      <a:srgbClr val="1B2B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Pixel-AUROC</a:t>
                      </a:r>
                    </a:p>
                  </a:txBody>
                  <a:tcPr anchor="ctr" marL="146304" marR="109728">
                    <a:solidFill>
                      <a:srgbClr val="1B2B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Pixel-AP</a:t>
                      </a:r>
                    </a:p>
                  </a:txBody>
                  <a:tcPr anchor="ctr" marL="146304" marR="109728">
                    <a:solidFill>
                      <a:srgbClr val="1B2B3F"/>
                    </a:solidFill>
                  </a:tcPr>
                </a:tc>
              </a:tr>
              <a:tr h="829491">
                <a:tc>
                  <a:txBody>
                    <a:bodyPr/>
                    <a:lstStyle/>
                    <a:p>
                      <a:pPr algn="l">
                        <a:defRPr b="1" sz="1700"/>
                      </a:pPr>
                      <a:r>
                        <a:t>can</a:t>
                      </a:r>
                    </a:p>
                  </a:txBody>
                  <a:tcPr anchor="ctr" marL="146304" marR="109728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AD3034"/>
                          </a:solidFill>
                        </a:defRPr>
                      </a:pPr>
                      <a:r>
                        <a:t>66,509 → 59,277</a:t>
                      </a:r>
                    </a:p>
                    <a:p>
                      <a:pPr algn="ctr">
                        <a:defRPr b="1" sz="1700">
                          <a:solidFill>
                            <a:srgbClr val="AD3034"/>
                          </a:solidFill>
                        </a:defRPr>
                      </a:pPr>
                      <a:r>
                        <a:t>Δ −7,233</a:t>
                      </a:r>
                    </a:p>
                  </a:txBody>
                  <a:tcPr anchor="ctr" marL="146304" marR="109728">
                    <a:solidFill>
                      <a:srgbClr val="FC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AD3034"/>
                          </a:solidFill>
                        </a:defRPr>
                      </a:pPr>
                      <a:r>
                        <a:t>26,080 → 23,806</a:t>
                      </a:r>
                    </a:p>
                    <a:p>
                      <a:pPr algn="ctr">
                        <a:defRPr b="1" sz="1700">
                          <a:solidFill>
                            <a:srgbClr val="AD3034"/>
                          </a:solidFill>
                        </a:defRPr>
                      </a:pPr>
                      <a:r>
                        <a:t>Δ −2,274</a:t>
                      </a:r>
                    </a:p>
                  </a:txBody>
                  <a:tcPr anchor="ctr" marL="146304" marR="109728">
                    <a:solidFill>
                      <a:srgbClr val="FC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18704A"/>
                          </a:solidFill>
                        </a:defRPr>
                      </a:pPr>
                      <a:r>
                        <a:t>64,047 → 78,466</a:t>
                      </a:r>
                    </a:p>
                    <a:p>
                      <a:pPr algn="ctr">
                        <a:defRPr b="1" sz="1700">
                          <a:solidFill>
                            <a:srgbClr val="18704A"/>
                          </a:solidFill>
                        </a:defRPr>
                      </a:pPr>
                      <a:r>
                        <a:t>Δ +14,419</a:t>
                      </a:r>
                    </a:p>
                  </a:txBody>
                  <a:tcPr anchor="ctr" marL="146304" marR="109728">
                    <a:solidFill>
                      <a:srgbClr val="E5F3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18704A"/>
                          </a:solidFill>
                        </a:defRPr>
                      </a:pPr>
                      <a:r>
                        <a:t>0,003 → 0,028</a:t>
                      </a:r>
                    </a:p>
                    <a:p>
                      <a:pPr algn="ctr">
                        <a:defRPr b="1" sz="1700">
                          <a:solidFill>
                            <a:srgbClr val="18704A"/>
                          </a:solidFill>
                        </a:defRPr>
                      </a:pPr>
                      <a:r>
                        <a:t>Δ +0,025</a:t>
                      </a:r>
                    </a:p>
                  </a:txBody>
                  <a:tcPr anchor="ctr" marL="146304" marR="109728">
                    <a:solidFill>
                      <a:srgbClr val="E5F3EA"/>
                    </a:solidFill>
                  </a:tcPr>
                </a:tc>
              </a:tr>
              <a:tr h="829491">
                <a:tc>
                  <a:txBody>
                    <a:bodyPr/>
                    <a:lstStyle/>
                    <a:p>
                      <a:pPr algn="l">
                        <a:defRPr b="1" sz="1700"/>
                      </a:pPr>
                      <a:r>
                        <a:t>fabric</a:t>
                      </a:r>
                    </a:p>
                  </a:txBody>
                  <a:tcPr anchor="ctr" marL="146304" marR="109728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243746"/>
                          </a:solidFill>
                        </a:defRPr>
                      </a:pPr>
                      <a:r>
                        <a:t>H: 98,868</a:t>
                      </a:r>
                    </a:p>
                    <a:p>
                      <a:pPr algn="ctr">
                        <a:defRPr b="1" sz="1700">
                          <a:solidFill>
                            <a:srgbClr val="243746"/>
                          </a:solidFill>
                        </a:defRPr>
                      </a:pPr>
                      <a:r>
                        <a:t/>
                      </a:r>
                    </a:p>
                  </a:txBody>
                  <a:tcPr anchor="ctr" marL="146304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243746"/>
                          </a:solidFill>
                        </a:defRPr>
                      </a:pPr>
                      <a:r>
                        <a:t>H: 96,656</a:t>
                      </a:r>
                    </a:p>
                    <a:p>
                      <a:pPr algn="ctr">
                        <a:defRPr b="1" sz="1700">
                          <a:solidFill>
                            <a:srgbClr val="243746"/>
                          </a:solidFill>
                        </a:defRPr>
                      </a:pPr>
                      <a:r>
                        <a:t/>
                      </a:r>
                    </a:p>
                  </a:txBody>
                  <a:tcPr anchor="ctr" marL="146304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243746"/>
                          </a:solidFill>
                        </a:defRPr>
                      </a:pPr>
                      <a:r>
                        <a:t>H: 93,904</a:t>
                      </a:r>
                    </a:p>
                    <a:p>
                      <a:pPr algn="ctr">
                        <a:defRPr b="1" sz="1700">
                          <a:solidFill>
                            <a:srgbClr val="243746"/>
                          </a:solidFill>
                        </a:defRPr>
                      </a:pPr>
                      <a:r>
                        <a:t/>
                      </a:r>
                    </a:p>
                  </a:txBody>
                  <a:tcPr anchor="ctr" marL="146304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243746"/>
                          </a:solidFill>
                        </a:defRPr>
                      </a:pPr>
                      <a:r>
                        <a:t>H: 46,064</a:t>
                      </a:r>
                    </a:p>
                    <a:p>
                      <a:pPr algn="ctr">
                        <a:defRPr b="1" sz="1700">
                          <a:solidFill>
                            <a:srgbClr val="243746"/>
                          </a:solidFill>
                        </a:defRPr>
                      </a:pPr>
                      <a:r>
                        <a:t/>
                      </a:r>
                    </a:p>
                  </a:txBody>
                  <a:tcPr anchor="ctr" marL="146304" marR="109728">
                    <a:solidFill>
                      <a:srgbClr val="FFFFFF"/>
                    </a:solidFill>
                  </a:tcPr>
                </a:tc>
              </a:tr>
              <a:tr h="829491">
                <a:tc>
                  <a:txBody>
                    <a:bodyPr/>
                    <a:lstStyle/>
                    <a:p>
                      <a:pPr algn="l">
                        <a:defRPr b="1" sz="1700"/>
                      </a:pPr>
                      <a:r>
                        <a:t>fruit_jelly</a:t>
                      </a:r>
                    </a:p>
                  </a:txBody>
                  <a:tcPr anchor="ctr" marL="146304" marR="109728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243746"/>
                          </a:solidFill>
                        </a:defRPr>
                      </a:pPr>
                      <a:r>
                        <a:t>H: 81,481</a:t>
                      </a:r>
                    </a:p>
                    <a:p>
                      <a:pPr algn="ctr">
                        <a:defRPr b="1" sz="1700">
                          <a:solidFill>
                            <a:srgbClr val="243746"/>
                          </a:solidFill>
                        </a:defRPr>
                      </a:pPr>
                      <a:r>
                        <a:t/>
                      </a:r>
                    </a:p>
                  </a:txBody>
                  <a:tcPr anchor="ctr" marL="146304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243746"/>
                          </a:solidFill>
                        </a:defRPr>
                      </a:pPr>
                      <a:r>
                        <a:t>H: 64,080</a:t>
                      </a:r>
                    </a:p>
                    <a:p>
                      <a:pPr algn="ctr">
                        <a:defRPr b="1" sz="1700">
                          <a:solidFill>
                            <a:srgbClr val="243746"/>
                          </a:solidFill>
                        </a:defRPr>
                      </a:pPr>
                      <a:r>
                        <a:t/>
                      </a:r>
                    </a:p>
                  </a:txBody>
                  <a:tcPr anchor="ctr" marL="146304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243746"/>
                          </a:solidFill>
                        </a:defRPr>
                      </a:pPr>
                      <a:r>
                        <a:t>H: 94,170</a:t>
                      </a:r>
                    </a:p>
                    <a:p>
                      <a:pPr algn="ctr">
                        <a:defRPr b="1" sz="1700">
                          <a:solidFill>
                            <a:srgbClr val="243746"/>
                          </a:solidFill>
                        </a:defRPr>
                      </a:pPr>
                      <a:r>
                        <a:t/>
                      </a:r>
                    </a:p>
                  </a:txBody>
                  <a:tcPr anchor="ctr" marL="146304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243746"/>
                          </a:solidFill>
                        </a:defRPr>
                      </a:pPr>
                      <a:r>
                        <a:t>H: 6,417</a:t>
                      </a:r>
                    </a:p>
                    <a:p>
                      <a:pPr algn="ctr">
                        <a:defRPr b="1" sz="1700">
                          <a:solidFill>
                            <a:srgbClr val="243746"/>
                          </a:solidFill>
                        </a:defRPr>
                      </a:pPr>
                      <a:r>
                        <a:t/>
                      </a:r>
                    </a:p>
                  </a:txBody>
                  <a:tcPr anchor="ctr" marL="146304" marR="109728">
                    <a:solidFill>
                      <a:srgbClr val="FFFFFF"/>
                    </a:solidFill>
                  </a:tcPr>
                </a:tc>
              </a:tr>
              <a:tr h="829491">
                <a:tc>
                  <a:txBody>
                    <a:bodyPr/>
                    <a:lstStyle/>
                    <a:p>
                      <a:pPr algn="l">
                        <a:defRPr b="1" sz="1700"/>
                      </a:pPr>
                      <a:r>
                        <a:t>rice</a:t>
                      </a:r>
                    </a:p>
                  </a:txBody>
                  <a:tcPr anchor="ctr" marL="146304" marR="109728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18704A"/>
                          </a:solidFill>
                        </a:defRPr>
                      </a:pPr>
                      <a:r>
                        <a:t>46,399 → 56,070</a:t>
                      </a:r>
                    </a:p>
                    <a:p>
                      <a:pPr algn="ctr">
                        <a:defRPr b="1" sz="1700">
                          <a:solidFill>
                            <a:srgbClr val="18704A"/>
                          </a:solidFill>
                        </a:defRPr>
                      </a:pPr>
                      <a:r>
                        <a:t>Δ +9,671</a:t>
                      </a:r>
                    </a:p>
                  </a:txBody>
                  <a:tcPr anchor="ctr" marL="146304" marR="109728">
                    <a:solidFill>
                      <a:srgbClr val="E5F3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AD3034"/>
                          </a:solidFill>
                        </a:defRPr>
                      </a:pPr>
                      <a:r>
                        <a:t>31,701 → 31,120</a:t>
                      </a:r>
                    </a:p>
                    <a:p>
                      <a:pPr algn="ctr">
                        <a:defRPr b="1" sz="1700">
                          <a:solidFill>
                            <a:srgbClr val="AD3034"/>
                          </a:solidFill>
                        </a:defRPr>
                      </a:pPr>
                      <a:r>
                        <a:t>Δ −0,581</a:t>
                      </a:r>
                    </a:p>
                  </a:txBody>
                  <a:tcPr anchor="ctr" marL="146304" marR="109728">
                    <a:solidFill>
                      <a:srgbClr val="FC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18704A"/>
                          </a:solidFill>
                        </a:defRPr>
                      </a:pPr>
                      <a:r>
                        <a:t>56,261 → 65,884</a:t>
                      </a:r>
                    </a:p>
                    <a:p>
                      <a:pPr algn="ctr">
                        <a:defRPr b="1" sz="1700">
                          <a:solidFill>
                            <a:srgbClr val="18704A"/>
                          </a:solidFill>
                        </a:defRPr>
                      </a:pPr>
                      <a:r>
                        <a:t>Δ +9,623</a:t>
                      </a:r>
                    </a:p>
                  </a:txBody>
                  <a:tcPr anchor="ctr" marL="146304" marR="109728">
                    <a:solidFill>
                      <a:srgbClr val="E5F3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18704A"/>
                          </a:solidFill>
                        </a:defRPr>
                      </a:pPr>
                      <a:r>
                        <a:t>0,653 → 2,152</a:t>
                      </a:r>
                    </a:p>
                    <a:p>
                      <a:pPr algn="ctr">
                        <a:defRPr b="1" sz="1700">
                          <a:solidFill>
                            <a:srgbClr val="18704A"/>
                          </a:solidFill>
                        </a:defRPr>
                      </a:pPr>
                      <a:r>
                        <a:t>Δ +1,499</a:t>
                      </a:r>
                    </a:p>
                  </a:txBody>
                  <a:tcPr anchor="ctr" marL="146304" marR="109728">
                    <a:solidFill>
                      <a:srgbClr val="E5F3EA"/>
                    </a:solidFill>
                  </a:tcPr>
                </a:tc>
              </a:tr>
              <a:tr h="829491">
                <a:tc>
                  <a:txBody>
                    <a:bodyPr/>
                    <a:lstStyle/>
                    <a:p>
                      <a:pPr algn="l">
                        <a:defRPr b="1" sz="1700"/>
                      </a:pPr>
                      <a:r>
                        <a:t>sheet_metal</a:t>
                      </a:r>
                    </a:p>
                  </a:txBody>
                  <a:tcPr anchor="ctr" marL="146304" marR="109728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243746"/>
                          </a:solidFill>
                        </a:defRPr>
                      </a:pPr>
                      <a:r>
                        <a:t>H: 73,045</a:t>
                      </a:r>
                    </a:p>
                    <a:p>
                      <a:pPr algn="ctr">
                        <a:defRPr b="1" sz="1700">
                          <a:solidFill>
                            <a:srgbClr val="243746"/>
                          </a:solidFill>
                        </a:defRPr>
                      </a:pPr>
                      <a:r>
                        <a:t/>
                      </a:r>
                    </a:p>
                  </a:txBody>
                  <a:tcPr anchor="ctr" marL="146304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243746"/>
                          </a:solidFill>
                        </a:defRPr>
                      </a:pPr>
                      <a:r>
                        <a:t>H: 40,321</a:t>
                      </a:r>
                    </a:p>
                    <a:p>
                      <a:pPr algn="ctr">
                        <a:defRPr b="1" sz="1700">
                          <a:solidFill>
                            <a:srgbClr val="243746"/>
                          </a:solidFill>
                        </a:defRPr>
                      </a:pPr>
                      <a:r>
                        <a:t/>
                      </a:r>
                    </a:p>
                  </a:txBody>
                  <a:tcPr anchor="ctr" marL="146304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243746"/>
                          </a:solidFill>
                        </a:defRPr>
                      </a:pPr>
                      <a:r>
                        <a:t>H: 83,119</a:t>
                      </a:r>
                    </a:p>
                    <a:p>
                      <a:pPr algn="ctr">
                        <a:defRPr b="1" sz="1700">
                          <a:solidFill>
                            <a:srgbClr val="243746"/>
                          </a:solidFill>
                        </a:defRPr>
                      </a:pPr>
                      <a:r>
                        <a:t/>
                      </a:r>
                    </a:p>
                  </a:txBody>
                  <a:tcPr anchor="ctr" marL="146304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243746"/>
                          </a:solidFill>
                        </a:defRPr>
                      </a:pPr>
                      <a:r>
                        <a:t>H: 1,123</a:t>
                      </a:r>
                    </a:p>
                    <a:p>
                      <a:pPr algn="ctr">
                        <a:defRPr b="1" sz="1700">
                          <a:solidFill>
                            <a:srgbClr val="243746"/>
                          </a:solidFill>
                        </a:defRPr>
                      </a:pPr>
                      <a:r>
                        <a:t/>
                      </a:r>
                    </a:p>
                  </a:txBody>
                  <a:tcPr anchor="ctr" marL="146304" marR="109728">
                    <a:solidFill>
                      <a:srgbClr val="FFFFFF"/>
                    </a:solidFill>
                  </a:tcPr>
                </a:tc>
              </a:tr>
              <a:tr h="829491">
                <a:tc>
                  <a:txBody>
                    <a:bodyPr/>
                    <a:lstStyle/>
                    <a:p>
                      <a:pPr algn="l">
                        <a:defRPr b="1" sz="1700"/>
                      </a:pPr>
                      <a:r>
                        <a:t>vial</a:t>
                      </a:r>
                    </a:p>
                  </a:txBody>
                  <a:tcPr anchor="ctr" marL="146304" marR="109728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243746"/>
                          </a:solidFill>
                        </a:defRPr>
                      </a:pPr>
                      <a:r>
                        <a:t>H: 72,487</a:t>
                      </a:r>
                    </a:p>
                    <a:p>
                      <a:pPr algn="ctr">
                        <a:defRPr b="1" sz="1700">
                          <a:solidFill>
                            <a:srgbClr val="243746"/>
                          </a:solidFill>
                        </a:defRPr>
                      </a:pPr>
                      <a:r>
                        <a:t/>
                      </a:r>
                    </a:p>
                  </a:txBody>
                  <a:tcPr anchor="ctr" marL="146304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243746"/>
                          </a:solidFill>
                        </a:defRPr>
                      </a:pPr>
                      <a:r>
                        <a:t>H: 38,102</a:t>
                      </a:r>
                    </a:p>
                    <a:p>
                      <a:pPr algn="ctr">
                        <a:defRPr b="1" sz="1700">
                          <a:solidFill>
                            <a:srgbClr val="243746"/>
                          </a:solidFill>
                        </a:defRPr>
                      </a:pPr>
                      <a:r>
                        <a:t/>
                      </a:r>
                    </a:p>
                  </a:txBody>
                  <a:tcPr anchor="ctr" marL="146304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243746"/>
                          </a:solidFill>
                        </a:defRPr>
                      </a:pPr>
                      <a:r>
                        <a:t>H: 78,441</a:t>
                      </a:r>
                    </a:p>
                    <a:p>
                      <a:pPr algn="ctr">
                        <a:defRPr b="1" sz="1700">
                          <a:solidFill>
                            <a:srgbClr val="243746"/>
                          </a:solidFill>
                        </a:defRPr>
                      </a:pPr>
                      <a:r>
                        <a:t/>
                      </a:r>
                    </a:p>
                  </a:txBody>
                  <a:tcPr anchor="ctr" marL="146304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243746"/>
                          </a:solidFill>
                        </a:defRPr>
                      </a:pPr>
                      <a:r>
                        <a:t>H: 0,909</a:t>
                      </a:r>
                    </a:p>
                    <a:p>
                      <a:pPr algn="ctr">
                        <a:defRPr b="1" sz="1700">
                          <a:solidFill>
                            <a:srgbClr val="243746"/>
                          </a:solidFill>
                        </a:defRPr>
                      </a:pPr>
                      <a:r>
                        <a:t/>
                      </a:r>
                    </a:p>
                  </a:txBody>
                  <a:tcPr anchor="ctr" marL="146304" marR="10972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7498079"/>
            <a:ext cx="1353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B2B3F"/>
                </a:solidFill>
              </a:defRPr>
            </a:pPr>
            <a:r>
              <a:t>Δ = Hybrid − Baseline | Grün: Verbesserung · Rot: Verschlechterung | Stand: 06.10.2026 10:44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